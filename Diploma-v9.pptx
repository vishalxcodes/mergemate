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cec6f2f-32cc-434c-8e3e-ed4bd70d9b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799" y="506402"/>
            <a:ext cx="1516885" cy="678869"/>
          </a:xfrm>
          <a:prstGeom prst="rect">
            <a:avLst/>
          </a:prstGeom>
        </p:spPr>
      </p:pic>
      <p:pic>
        <p:nvPicPr>
          <p:cNvPr id="3" name="Picture 2" descr="ebe14328-23ab-4a34-8274-5209a2f30db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1" y="1279563"/>
            <a:ext cx="1129977" cy="501297"/>
          </a:xfrm>
          <a:prstGeom prst="rect">
            <a:avLst/>
          </a:prstGeom>
        </p:spPr>
      </p:pic>
      <p:pic>
        <p:nvPicPr>
          <p:cNvPr id="4" name="Picture 3" descr="3ca84cf7-f644-4fea-8bcc-5d3f2dd69aa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0019" y="6065796"/>
            <a:ext cx="463350" cy="227512"/>
          </a:xfrm>
          <a:prstGeom prst="rect">
            <a:avLst/>
          </a:prstGeom>
        </p:spPr>
      </p:pic>
      <p:pic>
        <p:nvPicPr>
          <p:cNvPr id="5" name="Picture 4" descr="6bd7c5a9-b827-4130-bdea-b50de704bd5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7760" y="6065796"/>
            <a:ext cx="644676" cy="227512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33145" y="1263606"/>
          <a:ext cx="10501099" cy="33028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8342"/>
                <a:gridCol w="1139789"/>
                <a:gridCol w="1138342"/>
                <a:gridCol w="1139789"/>
                <a:gridCol w="1139789"/>
                <a:gridCol w="1138342"/>
                <a:gridCol w="1139789"/>
                <a:gridCol w="1138342"/>
                <a:gridCol w="1388575"/>
              </a:tblGrid>
              <a:tr h="412858"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II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III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IV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V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VI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VII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VII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VIII</a:t>
                      </a:r>
                    </a:p>
                  </a:txBody>
                  <a:tcPr marL="6350" marR="6350" marT="6350" marB="6350" anchor="ctr"/>
                </a:tc>
              </a:tr>
              <a:tr h="412858"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9:00-09:55 AM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10:00-10:55 AM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11:00-11:55 AM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12:00-12:55 PM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1:00-01:55  PM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2:00-02:55   PM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03:00-03:55 PM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04:00-04:55 PM</a:t>
                      </a:r>
                    </a:p>
                  </a:txBody>
                  <a:tcPr marL="6350" marR="6350" marT="6350" marB="6350" anchor="ctr"/>
                </a:tc>
              </a:tr>
              <a:tr h="412858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Monday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DCS381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NT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DCS302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ND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Mentor mentee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meeting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NR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DCS305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DM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</a:tr>
              <a:tr h="412858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Tuesday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DCS382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ND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DCS303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DAK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DCS301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NT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</a:tr>
              <a:tr h="412858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Wednesday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DCS306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AG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DCS304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KS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DCS383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NR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DCS303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DAK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Community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Engagement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**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</a:tr>
              <a:tr h="412858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Thursday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DCS303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DAK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DCS304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KS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DCS306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AG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DCS302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ND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DCS301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NT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DCS305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DM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</a:tr>
              <a:tr h="412858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Friday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DCS306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AG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DCS301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NT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DCS304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KS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DCS305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DM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DCS302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ND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Sports and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Wellness Activities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**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</a:tr>
              <a:tr h="412863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Saturday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NSS/NCC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Community Engagement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**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Library and Self-Study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**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Sports and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Wellness Activities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**</a:t>
                      </a:r>
                    </a:p>
                  </a:txBody>
                  <a:tcPr marL="6350" marR="6350" marT="6350" marB="6350" anchor="ctr"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33145" y="4698821"/>
          <a:ext cx="10501102" cy="12877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6896"/>
                <a:gridCol w="1138342"/>
                <a:gridCol w="5696053"/>
                <a:gridCol w="1139789"/>
                <a:gridCol w="1390022"/>
              </a:tblGrid>
              <a:tr h="128777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SUBJECT CODE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CREDIT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SUBJECT NAME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ABBREVIATION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FACULTY NAME</a:t>
                      </a:r>
                    </a:p>
                  </a:txBody>
                  <a:tcPr marL="6350" marR="6350" marT="6350" marB="6350" anchor="ctr"/>
                </a:tc>
              </a:tr>
              <a:tr h="128777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DCS301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Data Structure Using C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NT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Mrs. Neetu</a:t>
                      </a:r>
                    </a:p>
                  </a:txBody>
                  <a:tcPr marL="6350" marR="6350" marT="6350" marB="6350" anchor="ctr"/>
                </a:tc>
              </a:tr>
              <a:tr h="128777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DCS302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Internet and Web Technology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ND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Mrs. Nidhi</a:t>
                      </a:r>
                    </a:p>
                  </a:txBody>
                  <a:tcPr marL="6350" marR="6350" marT="6350" marB="6350" anchor="ctr"/>
                </a:tc>
              </a:tr>
              <a:tr h="128777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DCS303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Data Communication and Computer Network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DAK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Dr. Arvind Kumar</a:t>
                      </a:r>
                    </a:p>
                  </a:txBody>
                  <a:tcPr marL="6350" marR="6350" marT="6350" marB="6350" anchor="ctr"/>
                </a:tc>
              </a:tr>
              <a:tr h="128777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DCS304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Digital Electronics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KS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Ms. Komal Singh</a:t>
                      </a:r>
                    </a:p>
                  </a:txBody>
                  <a:tcPr marL="6350" marR="6350" marT="6350" marB="6350" anchor="ctr"/>
                </a:tc>
              </a:tr>
              <a:tr h="128777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DCS305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Operating Systems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DM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Dr. Divya Mishra</a:t>
                      </a:r>
                    </a:p>
                  </a:txBody>
                  <a:tcPr marL="6350" marR="6350" marT="6350" marB="6350" anchor="ctr"/>
                </a:tc>
              </a:tr>
              <a:tr h="128777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DCS306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Universal Human Values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AG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Dr. Anita Goswami</a:t>
                      </a:r>
                    </a:p>
                  </a:txBody>
                  <a:tcPr marL="6350" marR="6350" marT="6350" marB="6350" anchor="ctr"/>
                </a:tc>
              </a:tr>
              <a:tr h="128777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DCS381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Data Structure Using C Lab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NT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Mrs. Neetu</a:t>
                      </a:r>
                    </a:p>
                  </a:txBody>
                  <a:tcPr marL="6350" marR="6350" marT="6350" marB="6350" anchor="ctr"/>
                </a:tc>
              </a:tr>
              <a:tr h="128777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DCS382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Internet and Web Technology Lab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ND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Mrs. Nidhi</a:t>
                      </a:r>
                    </a:p>
                  </a:txBody>
                  <a:tcPr marL="6350" marR="6350" marT="6350" marB="6350" anchor="ctr"/>
                </a:tc>
              </a:tr>
              <a:tr h="128780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DCS383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Office Automation Tools Lab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NR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Ms. Nidhi Rana</a:t>
                      </a:r>
                    </a:p>
                  </a:txBody>
                  <a:tcPr marL="6350" marR="6350" marT="6350" marB="6350" anchor="ctr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007229" y="585717"/>
            <a:ext cx="1042384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C00000"/>
                </a:solidFill>
                <a:latin typeface="TimesNewRomanPS-BoldMT"/>
              </a:rPr>
              <a:t>COER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0569" y="692134"/>
            <a:ext cx="1355861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C00000"/>
                </a:solidFill>
                <a:latin typeface="TimesNewRomanPS-BoldMT"/>
              </a:rPr>
              <a:t>College of Smart Computing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90639" y="798552"/>
            <a:ext cx="1675760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C00000"/>
                </a:solidFill>
                <a:latin typeface="TimesNewRomanPS-BoldMT"/>
              </a:rPr>
              <a:t>Computer Science and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07874" y="904970"/>
            <a:ext cx="2041264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Academic Session 2026-27 (ODD Semester)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83536" y="1011387"/>
            <a:ext cx="689915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TIME 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2250" y="743506"/>
            <a:ext cx="673336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w.e.f: 15/07/26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2250" y="849923"/>
            <a:ext cx="1146838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Year: Diploma 2nd Year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2250" y="956341"/>
            <a:ext cx="623968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Semester: III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94976" y="6310243"/>
            <a:ext cx="753456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OC Time Table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6777" y="6310243"/>
            <a:ext cx="1146655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Head of the Department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5514" y="6310243"/>
            <a:ext cx="245957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Dean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0440" y="6310243"/>
            <a:ext cx="953019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Pro Vice Chancellor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048" y="4584297"/>
            <a:ext cx="30772" cy="983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 i="0">
                <a:solidFill>
                  <a:srgbClr val="000000"/>
                </a:solidFill>
                <a:latin typeface="ArialMT"/>
              </a:rPr>
              <a:t>\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cec6f2f-32cc-434c-8e3e-ed4bd70d9b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799" y="396311"/>
            <a:ext cx="1385695" cy="620156"/>
          </a:xfrm>
          <a:prstGeom prst="rect">
            <a:avLst/>
          </a:prstGeom>
        </p:spPr>
      </p:pic>
      <p:pic>
        <p:nvPicPr>
          <p:cNvPr id="3" name="Picture 2" descr="ebe14328-23ab-4a34-8274-5209a2f30db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1" y="1109938"/>
            <a:ext cx="1125365" cy="499247"/>
          </a:xfrm>
          <a:prstGeom prst="rect">
            <a:avLst/>
          </a:prstGeom>
        </p:spPr>
      </p:pic>
      <p:pic>
        <p:nvPicPr>
          <p:cNvPr id="4" name="Picture 3" descr="3ca84cf7-f644-4fea-8bcc-5d3f2dd69aa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0019" y="6098822"/>
            <a:ext cx="463350" cy="227512"/>
          </a:xfrm>
          <a:prstGeom prst="rect">
            <a:avLst/>
          </a:prstGeom>
        </p:spPr>
      </p:pic>
      <p:pic>
        <p:nvPicPr>
          <p:cNvPr id="5" name="Picture 4" descr="6bd7c5a9-b827-4130-bdea-b50de704bd5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7760" y="6098822"/>
            <a:ext cx="644676" cy="227512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33145" y="1095586"/>
          <a:ext cx="10501101" cy="33028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7619"/>
                <a:gridCol w="1139066"/>
                <a:gridCol w="1139066"/>
                <a:gridCol w="1139066"/>
                <a:gridCol w="1139789"/>
                <a:gridCol w="1139307"/>
                <a:gridCol w="1139307"/>
                <a:gridCol w="1138824"/>
                <a:gridCol w="1389057"/>
              </a:tblGrid>
              <a:tr h="412858"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II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III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IV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V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VI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VII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VII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VIII</a:t>
                      </a:r>
                    </a:p>
                  </a:txBody>
                  <a:tcPr marL="6350" marR="6350" marT="6350" marB="6350" anchor="ctr"/>
                </a:tc>
              </a:tr>
              <a:tr h="412858"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9:00-09:55 AM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10:00-10:55 AM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11:00-11:55 AM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12:00-12:55 PM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1:00-01:55  PM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2:00-02:55   PM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03:00-03:55 PM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04:00-04:55 PM</a:t>
                      </a:r>
                    </a:p>
                  </a:txBody>
                  <a:tcPr marL="6350" marR="6350" marT="6350" marB="6350" anchor="ctr"/>
                </a:tc>
              </a:tr>
              <a:tr h="412858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Monday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DCS503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AJ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A110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DCS506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HB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DCS504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YP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301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DCS505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AS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207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</a:tr>
              <a:tr h="412858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Tuesday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DCS503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AJ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DCS581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SS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DCS506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HB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/>
                </a:tc>
              </a:tr>
              <a:tr h="412858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Wednesday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Library and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Self-Study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**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DCS501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SS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DCS502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DP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DCS504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YP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DCS584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NR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/>
                </a:tc>
              </a:tr>
              <a:tr h="412858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Thursday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DCS504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YP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207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DCS501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SS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207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DCS505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AS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207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DCS582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AT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Lab 4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DCS503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AJ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207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DCS502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DP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/>
                </a:tc>
              </a:tr>
              <a:tr h="412858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Friday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DCS502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DP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107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DCS506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HB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107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DCS583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YP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Lab 4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DCS505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AS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310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DCS501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SS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</a:tr>
              <a:tr h="412863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Saturday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NSS/NCC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Community Engagement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**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Library and Self-Study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**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Sports and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Wellness Activities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**</a:t>
                      </a:r>
                    </a:p>
                  </a:txBody>
                  <a:tcPr marL="6350" marR="6350" marT="6350" marB="6350" anchor="ctr"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33145" y="4475560"/>
          <a:ext cx="10501102" cy="15421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7619"/>
                <a:gridCol w="1139066"/>
                <a:gridCol w="5696053"/>
                <a:gridCol w="1139066"/>
                <a:gridCol w="1389298"/>
              </a:tblGrid>
              <a:tr h="128508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SUBJECT CODE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CREDIT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SUBJECT NAME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ABBREVIATION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FACULTY NAME</a:t>
                      </a:r>
                    </a:p>
                  </a:txBody>
                  <a:tcPr marL="6350" marR="6350" marT="6350" marB="6350" anchor="ctr"/>
                </a:tc>
              </a:tr>
              <a:tr h="128508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DCS501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Python Programming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SS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Mr. Sunil Singh</a:t>
                      </a:r>
                    </a:p>
                  </a:txBody>
                  <a:tcPr marL="6350" marR="6350" marT="6350" marB="6350" anchor="ctr"/>
                </a:tc>
              </a:tr>
              <a:tr h="128508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DCS502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Operating System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DP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Dr. Deepak Painuli</a:t>
                      </a:r>
                    </a:p>
                  </a:txBody>
                  <a:tcPr marL="6350" marR="6350" marT="6350" marB="6350" anchor="ctr"/>
                </a:tc>
              </a:tr>
              <a:tr h="128508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DCS503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Data Mining and Warehousing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AJ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Dr. Akshay Juneja</a:t>
                      </a:r>
                    </a:p>
                  </a:txBody>
                  <a:tcPr marL="6350" marR="6350" marT="6350" marB="6350" anchor="ctr"/>
                </a:tc>
              </a:tr>
              <a:tr h="128508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DCS504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Web Development Using Android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YP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Ms. Yadika Prasad</a:t>
                      </a:r>
                    </a:p>
                  </a:txBody>
                  <a:tcPr marL="6350" marR="6350" marT="6350" marB="6350" anchor="ctr"/>
                </a:tc>
              </a:tr>
              <a:tr h="128508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DCS505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Network Security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AS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Dr. Anurag Singh</a:t>
                      </a:r>
                    </a:p>
                  </a:txBody>
                  <a:tcPr marL="6350" marR="6350" marT="6350" marB="6350" anchor="ctr"/>
                </a:tc>
              </a:tr>
              <a:tr h="128508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DCS506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Data Analytics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HB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Ms. Himani</a:t>
                      </a:r>
                    </a:p>
                  </a:txBody>
                  <a:tcPr marL="6350" marR="6350" marT="6350" marB="6350" anchor="ctr"/>
                </a:tc>
              </a:tr>
              <a:tr h="128508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DCS581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Python Programming Lab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SS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Mr. Sunil Singh</a:t>
                      </a:r>
                    </a:p>
                  </a:txBody>
                  <a:tcPr marL="6350" marR="6350" marT="6350" marB="6350" anchor="ctr"/>
                </a:tc>
              </a:tr>
              <a:tr h="128508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DCS582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Operating System Lab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AT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Ms. Ankita</a:t>
                      </a:r>
                    </a:p>
                  </a:txBody>
                  <a:tcPr marL="6350" marR="6350" marT="6350" marB="6350" anchor="ctr"/>
                </a:tc>
              </a:tr>
              <a:tr h="128508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DCS583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Web Development Using Android Lab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YP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Ms. Yadika Prasad</a:t>
                      </a:r>
                    </a:p>
                  </a:txBody>
                  <a:tcPr marL="6350" marR="6350" marT="6350" marB="6350" anchor="ctr"/>
                </a:tc>
              </a:tr>
              <a:tr h="128508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DCS584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Mini Project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NR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Ms. Nidhi Rana</a:t>
                      </a:r>
                    </a:p>
                  </a:txBody>
                  <a:tcPr marL="6350" marR="6350" marT="6350" marB="6350" anchor="ctr"/>
                </a:tc>
              </a:tr>
              <a:tr h="128518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DSI001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Industrial Training Assessment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NR</a:t>
                      </a:r>
                    </a:p>
                  </a:txBody>
                  <a:tcPr marL="6350" marR="6350" marT="6350" marB="63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Ms. Nidhi Rana</a:t>
                      </a:r>
                    </a:p>
                  </a:txBody>
                  <a:tcPr marL="6350" marR="6350" marT="6350" marB="6350" anchor="ctr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007229" y="446258"/>
            <a:ext cx="1042384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C00000"/>
                </a:solidFill>
                <a:latin typeface="TimesNewRomanPS-BoldMT"/>
              </a:rPr>
              <a:t>COER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0569" y="552675"/>
            <a:ext cx="1355861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C00000"/>
                </a:solidFill>
                <a:latin typeface="TimesNewRomanPS-BoldMT"/>
              </a:rPr>
              <a:t>College of Smart Computing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90639" y="659093"/>
            <a:ext cx="1675760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C00000"/>
                </a:solidFill>
                <a:latin typeface="TimesNewRomanPS-BoldMT"/>
              </a:rPr>
              <a:t>Computer Science and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07874" y="765511"/>
            <a:ext cx="2041264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Academic Session 2026-27 (ODD Semester)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83536" y="871928"/>
            <a:ext cx="689915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TIME 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2250" y="604058"/>
            <a:ext cx="673336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w.e.f: 15/07/26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2250" y="710476"/>
            <a:ext cx="1134407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Year: Diploma 3rd Year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2250" y="816893"/>
            <a:ext cx="574710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Semester: 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94976" y="6343261"/>
            <a:ext cx="753456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OC Time Table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6777" y="6343261"/>
            <a:ext cx="1146655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Head of the Department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5514" y="6343261"/>
            <a:ext cx="245957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Dean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0440" y="6343261"/>
            <a:ext cx="953019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Pro Vice Chancellor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