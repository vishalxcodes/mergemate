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21046" y="478253"/>
            <a:ext cx="4416493" cy="3694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Title :Von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Neumann 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Architectur</a:t>
            </a:r>
          </a:p>
          <a:p>
            <a:r>
              <a:rPr sz="6100" b="0" i="0">
                <a:solidFill>
                  <a:srgbClr val="262626"/>
                </a:solidFill>
                <a:latin typeface="NotoSans-Regular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21046" y="4516772"/>
            <a:ext cx="4671123" cy="817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COLLEGE PRESENTATION BY </a:t>
            </a:r>
          </a:p>
          <a:p>
            <a:r>
              <a:rPr sz="2100" b="0" i="0">
                <a:solidFill>
                  <a:srgbClr val="000000"/>
                </a:solidFill>
                <a:latin typeface="NotoSans-Regular"/>
              </a:rPr>
              <a:t>: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VISHAL YADAV</a:t>
            </a:r>
          </a:p>
        </p:txBody>
      </p:sp>
      <p:pic>
        <p:nvPicPr>
          <p:cNvPr id="4" name="Picture 3" descr="bf76f298-879a-416d-b406-61654d32288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8"/>
            <a:ext cx="6095304" cy="6857644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6857276"/>
            <a:ext cx="6095673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5673" y="6857276"/>
            <a:ext cx="6095660" cy="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04486" y="4294441"/>
            <a:ext cx="4388967" cy="1"/>
          </a:xfrm>
          <a:prstGeom prst="line">
            <a:avLst/>
          </a:prstGeom>
          <a:ln w="12599">
            <a:solidFill>
              <a:srgbClr val="3F3F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327"/>
            <a:ext cx="3784223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Introduction 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9482"/>
            <a:ext cx="9460947" cy="61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Von Neumann Architecture is a computer design model proposed by John von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Neumann in 1945.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881357"/>
            <a:ext cx="9767984" cy="614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introduced the stored program concept, where both data and instructions are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stored in the same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613233"/>
            <a:ext cx="6751659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It is the foundation of most modern computer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8913"/>
            <a:ext cx="9812842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Communication between the CPU and memory takes place through  a single bus.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04595"/>
            <a:ext cx="4202280" cy="328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E88B33"/>
                </a:solidFill>
                <a:latin typeface="LiberationSans"/>
              </a:rPr>
              <a:t>•</a:t>
            </a:r>
            <a:r>
              <a:rPr sz="1700" b="1" i="0">
                <a:solidFill>
                  <a:srgbClr val="404040"/>
                </a:solidFill>
                <a:latin typeface="NotoSans-Bold"/>
              </a:rPr>
              <a:t>Consists of five main components: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8321" y="4950276"/>
            <a:ext cx="10121308" cy="90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404040"/>
                </a:solidFill>
                <a:latin typeface="NotoSans-Bold"/>
              </a:rPr>
              <a:t>Input Unit                                                        Output Unit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Memory Unit                   Arithmetic Logic Unit (ALU)                                                                 </a:t>
            </a:r>
          </a:p>
          <a:p>
            <a:r>
              <a:rPr sz="1700" b="1" i="0">
                <a:solidFill>
                  <a:srgbClr val="404040"/>
                </a:solidFill>
                <a:latin typeface="NotoSans-Bold"/>
              </a:rPr>
              <a:t>         Control Unit.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43526" y="1872716"/>
            <a:ext cx="991081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783486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              Block Diagram </a:t>
            </a:r>
          </a:p>
        </p:txBody>
      </p:sp>
      <p:pic>
        <p:nvPicPr>
          <p:cNvPr id="3" name="Picture 2" descr="c3567e4e-2a50-47f3-b643-9ea78e57e8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290" y="2107806"/>
            <a:ext cx="7875084" cy="376055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766773" y="1946516"/>
            <a:ext cx="10677228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473480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79537"/>
            <a:ext cx="1171966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Fetch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1️⃣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688208"/>
            <a:ext cx="4581119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takes the instruction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from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537089"/>
            <a:ext cx="450538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Instruction is loaded into the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055136"/>
            <a:ext cx="1411890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Decode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2️⃣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563807"/>
            <a:ext cx="4236738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Control Unit understands what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 to perform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412688"/>
            <a:ext cx="4581374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Identifies data and operation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179537"/>
            <a:ext cx="146704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Execute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3️⃣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2688208"/>
            <a:ext cx="4693455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ALU performs arithmetic or logical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3537089"/>
            <a:ext cx="2563118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produced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4055136"/>
            <a:ext cx="1142993" cy="346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</a:p>
          <a:p>
            <a:r>
              <a:rPr sz="1800" b="1" i="0">
                <a:solidFill>
                  <a:srgbClr val="404040"/>
                </a:solidFill>
                <a:latin typeface="NotoSans-Bold"/>
              </a:rPr>
              <a:t> Store</a:t>
            </a:r>
          </a:p>
          <a:p>
            <a:r>
              <a:rPr sz="1800" b="0" i="0">
                <a:solidFill>
                  <a:srgbClr val="404040"/>
                </a:solidFill>
                <a:latin typeface="NotoColorEmoji"/>
              </a:rPr>
              <a:t>4️⃣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774" y="4563807"/>
            <a:ext cx="4561041" cy="35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Result is stored back into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774" y="5077167"/>
            <a:ext cx="4206750" cy="68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OpenSymbol"/>
              </a:rPr>
              <a:t>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Output is sent to output unit if </a:t>
            </a:r>
          </a:p>
          <a:p>
            <a:r>
              <a:rPr sz="1800" b="1" i="0">
                <a:solidFill>
                  <a:srgbClr val="000000"/>
                </a:solidFill>
                <a:latin typeface="NotoSans-Bold"/>
              </a:rPr>
              <a:t>required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0571" y="1737359"/>
            <a:ext cx="10314720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9727279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            Advantages or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41491"/>
            <a:ext cx="4273891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Simple and easy to design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3024560"/>
            <a:ext cx="4214954" cy="77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Uses a single memory for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data and instructions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907642"/>
            <a:ext cx="3156023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Low hardware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4428926"/>
            <a:ext cx="4569252" cy="420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Easy to program and modify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950210"/>
            <a:ext cx="4717435" cy="777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Suitable for general-purpose </a:t>
            </a:r>
          </a:p>
          <a:p>
            <a:r>
              <a:rPr sz="2100" b="1" i="0">
                <a:solidFill>
                  <a:srgbClr val="000000"/>
                </a:solidFill>
                <a:latin typeface="NotoSans-Bold"/>
              </a:rPr>
              <a:t>computers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774" y="2143597"/>
            <a:ext cx="413087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Suffers from Von Neumann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774" y="2966201"/>
            <a:ext cx="3085816" cy="388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Slower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774" y="3457247"/>
            <a:ext cx="4208535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Data and instructions share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the same 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774" y="4279839"/>
            <a:ext cx="4367767" cy="712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 parallel execution of data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and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774" y="5102443"/>
            <a:ext cx="4147915" cy="712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900" b="1" i="0">
                <a:solidFill>
                  <a:srgbClr val="000000"/>
                </a:solidFill>
                <a:latin typeface="NotoSans-Bold"/>
              </a:rPr>
              <a:t>• Not suitable for high-speed </a:t>
            </a:r>
          </a:p>
          <a:p>
            <a:r>
              <a:rPr sz="1900" b="1" i="0">
                <a:solidFill>
                  <a:srgbClr val="000000"/>
                </a:solidFill>
                <a:latin typeface="NotoSans-Bold"/>
              </a:rPr>
              <a:t>processing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6342" y="1737359"/>
            <a:ext cx="10486075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678" y="940683"/>
            <a:ext cx="3281764" cy="795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100" b="0" i="0">
                <a:solidFill>
                  <a:srgbClr val="404040"/>
                </a:solidFill>
                <a:latin typeface="NotoSans-Regular"/>
              </a:rP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41" y="2169202"/>
            <a:ext cx="5129679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1800" b="1" i="0">
                <a:solidFill>
                  <a:srgbClr val="000000"/>
                </a:solidFill>
                <a:latin typeface="NotoSans-Bold"/>
              </a:rPr>
              <a:t>•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 Used in early computer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41" y="2749161"/>
            <a:ext cx="789148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Basis of most modern general-purpose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41" y="3329132"/>
            <a:ext cx="536352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personal computers (PCs)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41" y="3909090"/>
            <a:ext cx="4742741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laptops and desktops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41" y="4489048"/>
            <a:ext cx="551201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simple embedded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41" y="5069006"/>
            <a:ext cx="6670345" cy="415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E88B33"/>
                </a:solidFill>
                <a:latin typeface="Carlito-Regular"/>
              </a:rPr>
              <a:t> </a:t>
            </a:r>
            <a:r>
              <a:rPr sz="2100" b="1" i="0">
                <a:solidFill>
                  <a:srgbClr val="000000"/>
                </a:solidFill>
                <a:latin typeface="NotoSans-Bold"/>
              </a:rPr>
              <a:t>• Used in educational and research systems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1099" y="1902243"/>
            <a:ext cx="10441804" cy="1"/>
          </a:xfrm>
          <a:prstGeom prst="line">
            <a:avLst/>
          </a:prstGeom>
          <a:ln w="12599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44961" y="1510942"/>
            <a:ext cx="8023318" cy="1989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300" b="1" i="0">
                <a:solidFill>
                  <a:srgbClr val="243541"/>
                </a:solidFill>
                <a:latin typeface="NotoSans-Bold"/>
              </a:rPr>
              <a:t>   </a:t>
            </a:r>
            <a:r>
              <a:rPr sz="10300" b="1" i="0">
                <a:solidFill>
                  <a:srgbClr val="243541"/>
                </a:solidFill>
                <a:latin typeface="LiberationSerif-Bold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94444" y="4335843"/>
            <a:ext cx="10028522" cy="1"/>
          </a:xfrm>
          <a:prstGeom prst="line">
            <a:avLst/>
          </a:prstGeom>
          <a:ln w="19079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