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21046" y="478253"/>
            <a:ext cx="4416493" cy="3694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100" b="0" i="0">
                <a:solidFill>
                  <a:srgbClr val="262626"/>
                </a:solidFill>
              </a:rPr>
              <a:t>Title :Von </a:t>
            </a:r>
          </a:p>
          <a:p>
            <a:r>
              <a:rPr sz="6100" b="0" i="0">
                <a:solidFill>
                  <a:srgbClr val="262626"/>
                </a:solidFill>
              </a:rPr>
              <a:t>Neumann </a:t>
            </a:r>
          </a:p>
          <a:p>
            <a:r>
              <a:rPr sz="6100" b="0" i="0">
                <a:solidFill>
                  <a:srgbClr val="262626"/>
                </a:solidFill>
              </a:rPr>
              <a:t>Architectur</a:t>
            </a:r>
          </a:p>
          <a:p>
            <a:r>
              <a:rPr sz="6100" b="0" i="0">
                <a:solidFill>
                  <a:srgbClr val="262626"/>
                </a:solidFill>
              </a:rPr>
              <a:t>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21046" y="4516772"/>
            <a:ext cx="4671123" cy="817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000000"/>
                </a:solidFill>
              </a:rPr>
              <a:t>COLLEGE PRESENTATION BY </a:t>
            </a:r>
          </a:p>
          <a:p>
            <a:r>
              <a:rPr sz="2100" b="0" i="0">
                <a:solidFill>
                  <a:srgbClr val="000000"/>
                </a:solidFill>
              </a:rPr>
              <a:t>: </a:t>
            </a:r>
            <a:r>
              <a:rPr sz="2100" b="1" i="0">
                <a:solidFill>
                  <a:srgbClr val="000000"/>
                </a:solidFill>
              </a:rPr>
              <a:t>VISHAL YADAV</a:t>
            </a:r>
          </a:p>
        </p:txBody>
      </p:sp>
      <p:pic>
        <p:nvPicPr>
          <p:cNvPr id="4" name="Picture 3" descr="69b05e14-c307-41ea-bf63-6d14fa7f2b1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8"/>
            <a:ext cx="6095304" cy="6857644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0" y="6857276"/>
            <a:ext cx="6095673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5673" y="6857276"/>
            <a:ext cx="6095660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804486" y="4294441"/>
            <a:ext cx="4388967" cy="1"/>
          </a:xfrm>
          <a:prstGeom prst="line">
            <a:avLst/>
          </a:prstGeom>
          <a:ln w="12599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327"/>
            <a:ext cx="3784223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0" i="0">
                <a:solidFill>
                  <a:srgbClr val="404040"/>
                </a:solidFill>
              </a:rPr>
              <a:t>Introduction 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41" y="2149482"/>
            <a:ext cx="9460947" cy="614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88B33"/>
                </a:solidFill>
              </a:rPr>
              <a:t>•</a:t>
            </a:r>
            <a:r>
              <a:rPr sz="1700" b="1" i="0">
                <a:solidFill>
                  <a:srgbClr val="404040"/>
                </a:solidFill>
              </a:rPr>
              <a:t>Von Neumann Architecture is a computer design model proposed by John von </a:t>
            </a:r>
          </a:p>
          <a:p>
            <a:r>
              <a:rPr sz="1700" b="1" i="0">
                <a:solidFill>
                  <a:srgbClr val="404040"/>
                </a:solidFill>
              </a:rPr>
              <a:t>Neumann in 1945.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41" y="2881357"/>
            <a:ext cx="9767984" cy="614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88B33"/>
                </a:solidFill>
              </a:rPr>
              <a:t>•</a:t>
            </a:r>
            <a:r>
              <a:rPr sz="1700" b="1" i="0">
                <a:solidFill>
                  <a:srgbClr val="404040"/>
                </a:solidFill>
              </a:rPr>
              <a:t>It introduced the stored program concept, where both data and instructions are </a:t>
            </a:r>
          </a:p>
          <a:p>
            <a:r>
              <a:rPr sz="1700" b="1" i="0">
                <a:solidFill>
                  <a:srgbClr val="404040"/>
                </a:solidFill>
              </a:rPr>
              <a:t>stored in the same memory.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41" y="3613233"/>
            <a:ext cx="6751659" cy="32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88B33"/>
                </a:solidFill>
              </a:rPr>
              <a:t>•</a:t>
            </a:r>
            <a:r>
              <a:rPr sz="1700" b="1" i="0">
                <a:solidFill>
                  <a:srgbClr val="404040"/>
                </a:solidFill>
              </a:rPr>
              <a:t>It is the foundation of most modern computer systems.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41" y="4058913"/>
            <a:ext cx="9812842" cy="32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88B33"/>
                </a:solidFill>
              </a:rPr>
              <a:t>•</a:t>
            </a:r>
            <a:r>
              <a:rPr sz="1700" b="1" i="0">
                <a:solidFill>
                  <a:srgbClr val="404040"/>
                </a:solidFill>
              </a:rPr>
              <a:t>Communication between the CPU and memory takes place through  a single bus.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41" y="4504595"/>
            <a:ext cx="4202280" cy="32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88B33"/>
                </a:solidFill>
              </a:rPr>
              <a:t>•</a:t>
            </a:r>
            <a:r>
              <a:rPr sz="1700" b="1" i="0">
                <a:solidFill>
                  <a:srgbClr val="404040"/>
                </a:solidFill>
              </a:rPr>
              <a:t>Consists of five main components: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321" y="4950276"/>
            <a:ext cx="10121308" cy="900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404040"/>
                </a:solidFill>
              </a:rPr>
              <a:t>Input Unit                                                        Output Unit                                                   </a:t>
            </a:r>
          </a:p>
          <a:p>
            <a:r>
              <a:rPr sz="1700" b="1" i="0">
                <a:solidFill>
                  <a:srgbClr val="404040"/>
                </a:solidFill>
              </a:rPr>
              <a:t>Memory Unit                   Arithmetic Logic Unit (ALU)                                                                 </a:t>
            </a:r>
          </a:p>
          <a:p>
            <a:r>
              <a:rPr sz="1700" b="1" i="0">
                <a:solidFill>
                  <a:srgbClr val="404040"/>
                </a:solidFill>
              </a:rPr>
              <a:t>         Control Unit.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43526" y="1872716"/>
            <a:ext cx="9910810" cy="1"/>
          </a:xfrm>
          <a:prstGeom prst="line">
            <a:avLst/>
          </a:prstGeom>
          <a:ln w="125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683"/>
            <a:ext cx="7834869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0" i="0">
                <a:solidFill>
                  <a:srgbClr val="404040"/>
                </a:solidFill>
              </a:rPr>
              <a:t>                          Block Diagram </a:t>
            </a:r>
          </a:p>
        </p:txBody>
      </p:sp>
      <p:pic>
        <p:nvPicPr>
          <p:cNvPr id="3" name="Picture 2" descr="a71be892-27ae-4792-b332-d0ddeea81b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290" y="2107806"/>
            <a:ext cx="7875084" cy="3760558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766773" y="1946516"/>
            <a:ext cx="10677228" cy="1"/>
          </a:xfrm>
          <a:prstGeom prst="line">
            <a:avLst/>
          </a:prstGeom>
          <a:ln w="125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683"/>
            <a:ext cx="4734809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0" i="0">
                <a:solidFill>
                  <a:srgbClr val="404040"/>
                </a:solidFill>
              </a:rPr>
              <a:t>Working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41" y="2179537"/>
            <a:ext cx="1171966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 </a:t>
            </a:r>
          </a:p>
          <a:p>
            <a:r>
              <a:rPr sz="1800" b="1" i="0">
                <a:solidFill>
                  <a:srgbClr val="404040"/>
                </a:solidFill>
              </a:rPr>
              <a:t> Fetch</a:t>
            </a:r>
          </a:p>
          <a:p>
            <a:r>
              <a:rPr sz="1800" b="0" i="0">
                <a:solidFill>
                  <a:srgbClr val="404040"/>
                </a:solidFill>
              </a:rPr>
              <a:t>1️⃣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15774" y="2179537"/>
            <a:ext cx="1467043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 </a:t>
            </a:r>
          </a:p>
          <a:p>
            <a:r>
              <a:rPr sz="1800" b="1" i="0">
                <a:solidFill>
                  <a:srgbClr val="404040"/>
                </a:solidFill>
              </a:rPr>
              <a:t> Execute</a:t>
            </a:r>
          </a:p>
          <a:p>
            <a:r>
              <a:rPr sz="1800" b="0" i="0">
                <a:solidFill>
                  <a:srgbClr val="404040"/>
                </a:solidFill>
              </a:rPr>
              <a:t>3️⃣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41" y="2688208"/>
            <a:ext cx="4581119" cy="350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</a:t>
            </a:r>
            <a:r>
              <a:rPr sz="1800" b="1" i="0">
                <a:solidFill>
                  <a:srgbClr val="000000"/>
                </a:solidFill>
              </a:rPr>
              <a:t>Control Unit takes the instruction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15774" y="2688208"/>
            <a:ext cx="4693455" cy="350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</a:t>
            </a:r>
            <a:r>
              <a:rPr sz="1800" b="1" i="0">
                <a:solidFill>
                  <a:srgbClr val="000000"/>
                </a:solidFill>
              </a:rPr>
              <a:t>ALU performs arithmetic or logical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678" y="3028417"/>
            <a:ext cx="1749612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000000"/>
                </a:solidFill>
              </a:rPr>
              <a:t>from 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7211" y="3028417"/>
            <a:ext cx="1244857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000000"/>
                </a:solidFill>
              </a:rPr>
              <a:t>operation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41" y="3537089"/>
            <a:ext cx="4505381" cy="35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</a:t>
            </a:r>
            <a:r>
              <a:rPr sz="1800" b="1" i="0">
                <a:solidFill>
                  <a:srgbClr val="000000"/>
                </a:solidFill>
              </a:rPr>
              <a:t>Instruction is loaded into the CPU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774" y="3537089"/>
            <a:ext cx="2563118" cy="35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</a:t>
            </a:r>
            <a:r>
              <a:rPr sz="1800" b="1" i="0">
                <a:solidFill>
                  <a:srgbClr val="000000"/>
                </a:solidFill>
              </a:rPr>
              <a:t>Result is produced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41" y="4055136"/>
            <a:ext cx="1411890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 </a:t>
            </a:r>
          </a:p>
          <a:p>
            <a:r>
              <a:rPr sz="1800" b="1" i="0">
                <a:solidFill>
                  <a:srgbClr val="404040"/>
                </a:solidFill>
              </a:rPr>
              <a:t> Decode</a:t>
            </a:r>
          </a:p>
          <a:p>
            <a:r>
              <a:rPr sz="1800" b="0" i="0">
                <a:solidFill>
                  <a:srgbClr val="404040"/>
                </a:solidFill>
              </a:rPr>
              <a:t>2️⃣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774" y="4055136"/>
            <a:ext cx="1142993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 </a:t>
            </a:r>
          </a:p>
          <a:p>
            <a:r>
              <a:rPr sz="1800" b="1" i="0">
                <a:solidFill>
                  <a:srgbClr val="404040"/>
                </a:solidFill>
              </a:rPr>
              <a:t> Store</a:t>
            </a:r>
          </a:p>
          <a:p>
            <a:r>
              <a:rPr sz="1800" b="0" i="0">
                <a:solidFill>
                  <a:srgbClr val="404040"/>
                </a:solidFill>
              </a:rPr>
              <a:t>4️⃣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41" y="4563807"/>
            <a:ext cx="4236738" cy="35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</a:t>
            </a:r>
            <a:r>
              <a:rPr sz="1800" b="1" i="0">
                <a:solidFill>
                  <a:srgbClr val="000000"/>
                </a:solidFill>
              </a:rPr>
              <a:t>Control Unit understands what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774" y="4563807"/>
            <a:ext cx="4561041" cy="35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</a:t>
            </a:r>
            <a:r>
              <a:rPr sz="1800" b="1" i="0">
                <a:solidFill>
                  <a:srgbClr val="000000"/>
                </a:solidFill>
              </a:rPr>
              <a:t>Result is stored back into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678" y="4904017"/>
            <a:ext cx="2692277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000000"/>
                </a:solidFill>
              </a:rPr>
              <a:t>operation to perform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5774" y="5077167"/>
            <a:ext cx="4206750" cy="350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</a:t>
            </a:r>
            <a:r>
              <a:rPr sz="1800" b="1" i="0">
                <a:solidFill>
                  <a:srgbClr val="000000"/>
                </a:solidFill>
              </a:rPr>
              <a:t>Output is sent to output unit if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41" y="5412688"/>
            <a:ext cx="4581374" cy="35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</a:t>
            </a:r>
            <a:r>
              <a:rPr sz="1800" b="1" i="0">
                <a:solidFill>
                  <a:srgbClr val="000000"/>
                </a:solidFill>
              </a:rPr>
              <a:t>Identifies data and operation 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7211" y="5417376"/>
            <a:ext cx="1087787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000000"/>
                </a:solidFill>
              </a:rPr>
              <a:t>required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40571" y="1737359"/>
            <a:ext cx="10314720" cy="1"/>
          </a:xfrm>
          <a:prstGeom prst="line">
            <a:avLst/>
          </a:prstGeom>
          <a:ln w="125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683"/>
            <a:ext cx="9727279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0" i="0">
                <a:solidFill>
                  <a:srgbClr val="404040"/>
                </a:solidFill>
              </a:rPr>
              <a:t>            Advantages or Disadvantages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41" y="2141491"/>
            <a:ext cx="4273891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 </a:t>
            </a:r>
            <a:r>
              <a:rPr sz="1800" b="1" i="0">
                <a:solidFill>
                  <a:srgbClr val="000000"/>
                </a:solidFill>
              </a:rPr>
              <a:t>• </a:t>
            </a:r>
            <a:r>
              <a:rPr sz="2100" b="1" i="0">
                <a:solidFill>
                  <a:srgbClr val="000000"/>
                </a:solidFill>
              </a:rPr>
              <a:t>Simple and easy to design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15774" y="2143597"/>
            <a:ext cx="4130875" cy="712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E88B33"/>
                </a:solidFill>
              </a:rPr>
              <a:t> </a:t>
            </a:r>
            <a:r>
              <a:rPr sz="1900" b="1" i="0">
                <a:solidFill>
                  <a:srgbClr val="000000"/>
                </a:solidFill>
              </a:rPr>
              <a:t>• Suffers from Von Neumann </a:t>
            </a:r>
          </a:p>
          <a:p>
            <a:r>
              <a:rPr sz="1900" b="1" i="0">
                <a:solidFill>
                  <a:srgbClr val="000000"/>
                </a:solidFill>
              </a:rPr>
              <a:t>bottleneck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678" y="2503289"/>
            <a:ext cx="1879730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000000"/>
                </a:solidFill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15774" y="2966201"/>
            <a:ext cx="3085816" cy="388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E88B33"/>
                </a:solidFill>
              </a:rPr>
              <a:t> </a:t>
            </a:r>
            <a:r>
              <a:rPr sz="1900" b="1" i="0">
                <a:solidFill>
                  <a:srgbClr val="000000"/>
                </a:solidFill>
              </a:rPr>
              <a:t>• Slower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41" y="3024560"/>
            <a:ext cx="4214954" cy="777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Uses a single memory for </a:t>
            </a:r>
          </a:p>
          <a:p>
            <a:r>
              <a:rPr sz="2100" b="1" i="0">
                <a:solidFill>
                  <a:srgbClr val="000000"/>
                </a:solidFill>
              </a:rPr>
              <a:t>data and instructions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5774" y="3457247"/>
            <a:ext cx="4208535" cy="712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E88B33"/>
                </a:solidFill>
              </a:rPr>
              <a:t> </a:t>
            </a:r>
            <a:r>
              <a:rPr sz="1900" b="1" i="0">
                <a:solidFill>
                  <a:srgbClr val="000000"/>
                </a:solidFill>
              </a:rPr>
              <a:t>• Data and instructions share </a:t>
            </a:r>
          </a:p>
          <a:p>
            <a:r>
              <a:rPr sz="1900" b="1" i="0">
                <a:solidFill>
                  <a:srgbClr val="000000"/>
                </a:solidFill>
              </a:rPr>
              <a:t>the same 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41" y="3907642"/>
            <a:ext cx="3156023" cy="420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Low hardware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774" y="4279839"/>
            <a:ext cx="4367767" cy="388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E88B33"/>
                </a:solidFill>
              </a:rPr>
              <a:t> </a:t>
            </a:r>
            <a:r>
              <a:rPr sz="1900" b="1" i="0">
                <a:solidFill>
                  <a:srgbClr val="000000"/>
                </a:solidFill>
              </a:rPr>
              <a:t>• No parallel execution of data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41" y="4428926"/>
            <a:ext cx="4569252" cy="420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Easy to program and modify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7211" y="4611397"/>
            <a:ext cx="2282309" cy="380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000000"/>
                </a:solidFill>
              </a:rPr>
              <a:t>and instructions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41" y="4950210"/>
            <a:ext cx="4717435" cy="420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Suitable for general-purpose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774" y="5102443"/>
            <a:ext cx="4147915" cy="388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E88B33"/>
                </a:solidFill>
              </a:rPr>
              <a:t> </a:t>
            </a:r>
            <a:r>
              <a:rPr sz="1900" b="1" i="0">
                <a:solidFill>
                  <a:srgbClr val="000000"/>
                </a:solidFill>
              </a:rPr>
              <a:t>• Not suitable for high-speed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678" y="5312008"/>
            <a:ext cx="1640381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000000"/>
                </a:solidFill>
              </a:rPr>
              <a:t>computers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7211" y="5434002"/>
            <a:ext cx="1500122" cy="380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000000"/>
                </a:solidFill>
              </a:rPr>
              <a:t>processing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6342" y="1737359"/>
            <a:ext cx="10486075" cy="1"/>
          </a:xfrm>
          <a:prstGeom prst="line">
            <a:avLst/>
          </a:prstGeom>
          <a:ln w="125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683"/>
            <a:ext cx="3281764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0" i="0">
                <a:solidFill>
                  <a:srgbClr val="404040"/>
                </a:solidFill>
              </a:rPr>
              <a:t>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41" y="2169202"/>
            <a:ext cx="5129679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 </a:t>
            </a:r>
            <a:r>
              <a:rPr sz="1800" b="1" i="0">
                <a:solidFill>
                  <a:srgbClr val="000000"/>
                </a:solidFill>
              </a:rPr>
              <a:t>•</a:t>
            </a:r>
            <a:r>
              <a:rPr sz="2100" b="1" i="0">
                <a:solidFill>
                  <a:srgbClr val="000000"/>
                </a:solidFill>
              </a:rPr>
              <a:t> Used in early computer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41" y="2749161"/>
            <a:ext cx="7891485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Basis of most modern general-purpose computers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41" y="3329132"/>
            <a:ext cx="5363525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Used in personal computers (PCs)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41" y="3909090"/>
            <a:ext cx="4742741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Used in laptops and desktops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41" y="4489048"/>
            <a:ext cx="5512015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Used in simple embedded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41" y="5069006"/>
            <a:ext cx="6670345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Used in educational and research systems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1099" y="1902243"/>
            <a:ext cx="10441804" cy="1"/>
          </a:xfrm>
          <a:prstGeom prst="line">
            <a:avLst/>
          </a:prstGeom>
          <a:ln w="125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4961" y="1510942"/>
            <a:ext cx="8023318" cy="1989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300" b="1" i="0">
                <a:solidFill>
                  <a:srgbClr val="243541"/>
                </a:solidFill>
              </a:rPr>
              <a:t>   </a:t>
            </a:r>
            <a:r>
              <a:rPr sz="10300" b="1" i="0">
                <a:solidFill>
                  <a:srgbClr val="243541"/>
                </a:solidFill>
              </a:rPr>
              <a:t>Thank You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94444" y="4335843"/>
            <a:ext cx="10028522" cy="1"/>
          </a:xfrm>
          <a:prstGeom prst="line">
            <a:avLst/>
          </a:prstGeom>
          <a:ln w="19079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