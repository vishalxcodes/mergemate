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c6ee996-feb0-4708-abaa-7dcfdc4497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799" y="506402"/>
            <a:ext cx="1516885" cy="678869"/>
          </a:xfrm>
          <a:prstGeom prst="rect">
            <a:avLst/>
          </a:prstGeom>
        </p:spPr>
      </p:pic>
      <p:pic>
        <p:nvPicPr>
          <p:cNvPr id="3" name="Picture 2" descr="bcd89f76-03b0-4a05-b5f1-5ec8d87aa0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1" y="1279563"/>
            <a:ext cx="1129977" cy="501297"/>
          </a:xfrm>
          <a:prstGeom prst="rect">
            <a:avLst/>
          </a:prstGeom>
        </p:spPr>
      </p:pic>
      <p:pic>
        <p:nvPicPr>
          <p:cNvPr id="4" name="Picture 3" descr="abdec47e-ca11-4cb7-b02e-d491376cc0b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0019" y="6065796"/>
            <a:ext cx="463350" cy="227512"/>
          </a:xfrm>
          <a:prstGeom prst="rect">
            <a:avLst/>
          </a:prstGeom>
        </p:spPr>
      </p:pic>
      <p:pic>
        <p:nvPicPr>
          <p:cNvPr id="5" name="Picture 4" descr="ecfc32e8-9942-4eba-b117-751ff781015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60" y="6065796"/>
            <a:ext cx="644676" cy="227512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33145" y="1263606"/>
          <a:ext cx="10501099" cy="3302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8342"/>
                <a:gridCol w="1139789"/>
                <a:gridCol w="1138342"/>
                <a:gridCol w="1139789"/>
                <a:gridCol w="1139789"/>
                <a:gridCol w="1138342"/>
                <a:gridCol w="1139789"/>
                <a:gridCol w="1138342"/>
                <a:gridCol w="1388575"/>
              </a:tblGrid>
              <a:tr h="264689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VIII</a:t>
                      </a:r>
                    </a:p>
                  </a:txBody>
                  <a:tcPr/>
                </a:tc>
              </a:tr>
              <a:tr h="264689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9:00-09:55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10:00-10:55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11:00-11:55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12:00-12:55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1:00-01:55 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2:00-02:55  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03:00-03:55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04:00-04:55 PM</a:t>
                      </a:r>
                    </a:p>
                  </a:txBody>
                  <a:tcPr/>
                </a:tc>
              </a:tr>
              <a:tr h="461481">
                <a:tc>
                  <a:txBody>
                    <a:bodyPr/>
                    <a:lstStyle/>
                    <a:p>
                      <a:r>
                        <a:rPr sz="900"/>
                        <a:t>Monday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DCS381 NT A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DCS302 ND A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Mentor mentee meeting 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Lunch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DCS305 DM A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62631">
                <a:tc>
                  <a:txBody>
                    <a:bodyPr/>
                    <a:lstStyle/>
                    <a:p>
                      <a:r>
                        <a:rPr sz="900"/>
                        <a:t>Tuesday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DCS382 ND A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DCS303 DAK A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DCS301 NT A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Lunch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62631">
                <a:tc>
                  <a:txBody>
                    <a:bodyPr/>
                    <a:lstStyle/>
                    <a:p>
                      <a:r>
                        <a:rPr sz="900"/>
                        <a:t>Wednesday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DCS306 AG A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DCS304 KS A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DCS383 NR A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Lunch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DCS303 DAK A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Community Engagement 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62631">
                <a:tc>
                  <a:txBody>
                    <a:bodyPr/>
                    <a:lstStyle/>
                    <a:p>
                      <a:r>
                        <a:rPr sz="900"/>
                        <a:t>Thursday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DCS303 DAK A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DCS304 KS A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DCS306 AG A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DCS302 ND A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Lunch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DCS301 NT A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DCS305 DM A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61481">
                <a:tc>
                  <a:txBody>
                    <a:bodyPr/>
                    <a:lstStyle/>
                    <a:p>
                      <a:r>
                        <a:rPr sz="900"/>
                        <a:t>Friday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DCS306 AG A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DCS301 NT A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DCS304 KS A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Lunch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DCS305 DM A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DCS302 ND A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Sports and Wellness Activities 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62631">
                <a:tc>
                  <a:txBody>
                    <a:bodyPr/>
                    <a:lstStyle/>
                    <a:p>
                      <a:r>
                        <a:rPr sz="900"/>
                        <a:t>Saturday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NSS/NCC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Community Engagement 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Lunch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Library and Self-Study 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Sports and Wellness Activities **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33145" y="4698821"/>
          <a:ext cx="10501102" cy="1287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896"/>
                <a:gridCol w="1138342"/>
                <a:gridCol w="5696053"/>
                <a:gridCol w="1139789"/>
                <a:gridCol w="1390022"/>
              </a:tblGrid>
              <a:tr h="130043">
                <a:tc>
                  <a:txBody>
                    <a:bodyPr/>
                    <a:lstStyle/>
                    <a:p>
                      <a:r>
                        <a:rPr sz="900"/>
                        <a:t>SUBJECT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CREDIT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SUBJECT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ABBREVIATION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FACULTY NAME</a:t>
                      </a:r>
                    </a:p>
                  </a:txBody>
                  <a:tcPr/>
                </a:tc>
              </a:tr>
              <a:tr h="128892">
                <a:tc>
                  <a:txBody>
                    <a:bodyPr/>
                    <a:lstStyle/>
                    <a:p>
                      <a:r>
                        <a:rPr sz="900"/>
                        <a:t>DCS301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Data Structure Using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Mrs. Neetu</a:t>
                      </a:r>
                    </a:p>
                  </a:txBody>
                  <a:tcPr/>
                </a:tc>
              </a:tr>
              <a:tr h="127741">
                <a:tc>
                  <a:txBody>
                    <a:bodyPr/>
                    <a:lstStyle/>
                    <a:p>
                      <a:r>
                        <a:rPr sz="900"/>
                        <a:t>DCS302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Internet and Web 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Mrs. Nidhi</a:t>
                      </a:r>
                    </a:p>
                  </a:txBody>
                  <a:tcPr/>
                </a:tc>
              </a:tr>
              <a:tr h="128892">
                <a:tc>
                  <a:txBody>
                    <a:bodyPr/>
                    <a:lstStyle/>
                    <a:p>
                      <a:r>
                        <a:rPr sz="900"/>
                        <a:t>DCS303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Data Communication and Computer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Dr. Arvind Kumar</a:t>
                      </a:r>
                    </a:p>
                  </a:txBody>
                  <a:tcPr/>
                </a:tc>
              </a:tr>
              <a:tr h="128892">
                <a:tc>
                  <a:txBody>
                    <a:bodyPr/>
                    <a:lstStyle/>
                    <a:p>
                      <a:r>
                        <a:rPr sz="900"/>
                        <a:t>DCS304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Digital Electronics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Ms. Komal Singh</a:t>
                      </a:r>
                    </a:p>
                  </a:txBody>
                  <a:tcPr/>
                </a:tc>
              </a:tr>
              <a:tr h="127741">
                <a:tc>
                  <a:txBody>
                    <a:bodyPr/>
                    <a:lstStyle/>
                    <a:p>
                      <a:r>
                        <a:rPr sz="900"/>
                        <a:t>DCS305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Operating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Dr. Divya Mishra</a:t>
                      </a:r>
                    </a:p>
                  </a:txBody>
                  <a:tcPr/>
                </a:tc>
              </a:tr>
              <a:tr h="128892">
                <a:tc>
                  <a:txBody>
                    <a:bodyPr/>
                    <a:lstStyle/>
                    <a:p>
                      <a:r>
                        <a:rPr sz="900"/>
                        <a:t>DCS306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Universal Human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Dr. Anita Goswami</a:t>
                      </a:r>
                    </a:p>
                  </a:txBody>
                  <a:tcPr/>
                </a:tc>
              </a:tr>
              <a:tr h="127741">
                <a:tc>
                  <a:txBody>
                    <a:bodyPr/>
                    <a:lstStyle/>
                    <a:p>
                      <a:r>
                        <a:rPr sz="900"/>
                        <a:t>DCS381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Data Structure Using C 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Mrs. Neetu</a:t>
                      </a:r>
                    </a:p>
                  </a:txBody>
                  <a:tcPr/>
                </a:tc>
              </a:tr>
              <a:tr h="128892">
                <a:tc>
                  <a:txBody>
                    <a:bodyPr/>
                    <a:lstStyle/>
                    <a:p>
                      <a:r>
                        <a:rPr sz="900"/>
                        <a:t>DCS382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Internet and Web Technology 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Mrs. Nidhi</a:t>
                      </a:r>
                    </a:p>
                  </a:txBody>
                  <a:tcPr/>
                </a:tc>
              </a:tr>
              <a:tr h="130043">
                <a:tc>
                  <a:txBody>
                    <a:bodyPr/>
                    <a:lstStyle/>
                    <a:p>
                      <a:r>
                        <a:rPr sz="900"/>
                        <a:t>DCS383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Office Automation Tools 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Ms. Nidhi Rana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07229" y="585717"/>
            <a:ext cx="1042384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C00000"/>
                </a:solidFill>
                <a:latin typeface="TimesNewRomanPS-BoldMT"/>
              </a:rPr>
              <a:t>COER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0569" y="692134"/>
            <a:ext cx="1355861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C00000"/>
                </a:solidFill>
                <a:latin typeface="TimesNewRomanPS-BoldMT"/>
              </a:rPr>
              <a:t>College of Smart Computing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2250" y="743506"/>
            <a:ext cx="673336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0000"/>
                </a:solidFill>
                <a:latin typeface="TimesNewRomanPS-BoldMT"/>
              </a:rPr>
              <a:t>w.e.f: 15/07/26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90639" y="798552"/>
            <a:ext cx="1675760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C00000"/>
                </a:solidFill>
                <a:latin typeface="TimesNewRomanPS-BoldMT"/>
              </a:rPr>
              <a:t>Computer Science and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2250" y="849923"/>
            <a:ext cx="1146838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0000"/>
                </a:solidFill>
                <a:latin typeface="TimesNewRomanPS-BoldMT"/>
              </a:rPr>
              <a:t>Year: Diploma 2nd Year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07874" y="904970"/>
            <a:ext cx="2041264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0000"/>
                </a:solidFill>
                <a:latin typeface="TimesNewRomanPS-BoldMT"/>
              </a:rPr>
              <a:t>Academic Session 2026-27 (ODD Semester)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2250" y="956341"/>
            <a:ext cx="623968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0000"/>
                </a:solidFill>
                <a:latin typeface="TimesNewRomanPS-BoldMT"/>
              </a:rPr>
              <a:t>Semester: III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3536" y="1011387"/>
            <a:ext cx="689915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0000"/>
                </a:solidFill>
                <a:latin typeface="TimesNewRomanPS-BoldMT"/>
              </a:rPr>
              <a:t>TIME 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048" y="4584297"/>
            <a:ext cx="30772" cy="98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000000"/>
                </a:solidFill>
                <a:latin typeface="ArialMT"/>
              </a:rPr>
              <a:t>\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94976" y="6310243"/>
            <a:ext cx="753456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0000"/>
                </a:solidFill>
                <a:latin typeface="TimesNewRomanPS-BoldMT"/>
              </a:rPr>
              <a:t>OC Time Table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6777" y="6310243"/>
            <a:ext cx="1146655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0000"/>
                </a:solidFill>
                <a:latin typeface="TimesNewRomanPS-BoldMT"/>
              </a:rPr>
              <a:t>Head of the Department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5514" y="6310243"/>
            <a:ext cx="245957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0000"/>
                </a:solidFill>
                <a:latin typeface="TimesNewRomanPS-BoldMT"/>
              </a:rPr>
              <a:t>Dean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440" y="6310243"/>
            <a:ext cx="953019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0000"/>
                </a:solidFill>
                <a:latin typeface="TimesNewRomanPS-BoldMT"/>
              </a:rPr>
              <a:t>Pro Vice Chancellor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c6ee996-feb0-4708-abaa-7dcfdc4497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799" y="396311"/>
            <a:ext cx="1385695" cy="620156"/>
          </a:xfrm>
          <a:prstGeom prst="rect">
            <a:avLst/>
          </a:prstGeom>
        </p:spPr>
      </p:pic>
      <p:pic>
        <p:nvPicPr>
          <p:cNvPr id="3" name="Picture 2" descr="bcd89f76-03b0-4a05-b5f1-5ec8d87aa0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1" y="1109938"/>
            <a:ext cx="1125365" cy="499247"/>
          </a:xfrm>
          <a:prstGeom prst="rect">
            <a:avLst/>
          </a:prstGeom>
        </p:spPr>
      </p:pic>
      <p:pic>
        <p:nvPicPr>
          <p:cNvPr id="4" name="Picture 3" descr="abdec47e-ca11-4cb7-b02e-d491376cc0b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0019" y="6098822"/>
            <a:ext cx="463350" cy="227512"/>
          </a:xfrm>
          <a:prstGeom prst="rect">
            <a:avLst/>
          </a:prstGeom>
        </p:spPr>
      </p:pic>
      <p:pic>
        <p:nvPicPr>
          <p:cNvPr id="5" name="Picture 4" descr="ecfc32e8-9942-4eba-b117-751ff781015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60" y="6098822"/>
            <a:ext cx="644676" cy="227512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33145" y="1095586"/>
          <a:ext cx="10501102" cy="4922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619"/>
                <a:gridCol w="1139066"/>
                <a:gridCol w="1139066"/>
                <a:gridCol w="1139066"/>
                <a:gridCol w="1139789"/>
                <a:gridCol w="1139307"/>
                <a:gridCol w="1139114"/>
                <a:gridCol w="1138921"/>
                <a:gridCol w="1389154"/>
              </a:tblGrid>
              <a:tr h="262388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VIII</a:t>
                      </a:r>
                    </a:p>
                  </a:txBody>
                  <a:tcPr/>
                </a:tc>
              </a:tr>
              <a:tr h="263539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9:00-09:55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10:00-10:55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11:00-11:55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12:00-12:55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1:00-01:55 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2:00-02:55  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03:00-03:55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04:00-04:55 PM</a:t>
                      </a:r>
                    </a:p>
                  </a:txBody>
                  <a:tcPr/>
                </a:tc>
              </a:tr>
              <a:tr h="464933">
                <a:tc>
                  <a:txBody>
                    <a:bodyPr/>
                    <a:lstStyle/>
                    <a:p>
                      <a:r>
                        <a:rPr sz="900"/>
                        <a:t>Monday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DCS503 AJ A110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DCS506 HB A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Lunch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DCS504 YP A 301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DCS505 AS A 207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62631">
                <a:tc>
                  <a:txBody>
                    <a:bodyPr/>
                    <a:lstStyle/>
                    <a:p>
                      <a:r>
                        <a:rPr sz="900"/>
                        <a:t>Tuesday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Lunch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DCS503 AJ A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DCS581 SS A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DCS506 HB A 110</a:t>
                      </a:r>
                    </a:p>
                  </a:txBody>
                  <a:tcPr/>
                </a:tc>
              </a:tr>
              <a:tr h="461481">
                <a:tc>
                  <a:txBody>
                    <a:bodyPr/>
                    <a:lstStyle/>
                    <a:p>
                      <a:r>
                        <a:rPr sz="900"/>
                        <a:t>Wednesday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Library and Self-Study 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Lunch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DCS501 SS A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DCS502 DP A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DCS504 YP A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DCS584 NR A 110</a:t>
                      </a:r>
                    </a:p>
                  </a:txBody>
                  <a:tcPr/>
                </a:tc>
              </a:tr>
              <a:tr h="462631">
                <a:tc>
                  <a:txBody>
                    <a:bodyPr/>
                    <a:lstStyle/>
                    <a:p>
                      <a:r>
                        <a:rPr sz="900"/>
                        <a:t>Thursday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DCS504 YP A 207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DCS501 SS A 207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DCS505 AS A 207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Lunch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DCS582 AT Lab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DCS503 AJ A 207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DCS502 DP A 110</a:t>
                      </a:r>
                    </a:p>
                  </a:txBody>
                  <a:tcPr/>
                </a:tc>
              </a:tr>
              <a:tr h="462631">
                <a:tc>
                  <a:txBody>
                    <a:bodyPr/>
                    <a:lstStyle/>
                    <a:p>
                      <a:r>
                        <a:rPr sz="900"/>
                        <a:t>Friday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DCS502 DP A 107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DCS506 HB A 107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DCS583 YP Lab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Lunch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DCS505 AS A 310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DCS501 SS A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62631">
                <a:tc>
                  <a:txBody>
                    <a:bodyPr/>
                    <a:lstStyle/>
                    <a:p>
                      <a:r>
                        <a:rPr sz="900"/>
                        <a:t>Saturday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NSS/NCC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Community Engagement 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Lunch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Library and Self-Study 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Sports and Wellness Activities **</a:t>
                      </a:r>
                    </a:p>
                  </a:txBody>
                  <a:tcPr/>
                </a:tc>
              </a:tr>
              <a:tr h="77105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30043">
                <a:tc>
                  <a:txBody>
                    <a:bodyPr/>
                    <a:lstStyle/>
                    <a:p>
                      <a:r>
                        <a:rPr sz="900"/>
                        <a:t>SUBJECT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CREDIT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SUBJECT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ABBREVIATION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FACULTY NAME</a:t>
                      </a:r>
                    </a:p>
                  </a:txBody>
                  <a:tcPr/>
                </a:tc>
              </a:tr>
              <a:tr h="127741">
                <a:tc>
                  <a:txBody>
                    <a:bodyPr/>
                    <a:lstStyle/>
                    <a:p>
                      <a:r>
                        <a:rPr sz="900"/>
                        <a:t>DCS501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Python Programming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Mr. Sunil Singh</a:t>
                      </a:r>
                    </a:p>
                  </a:txBody>
                  <a:tcPr/>
                </a:tc>
              </a:tr>
              <a:tr h="128892">
                <a:tc>
                  <a:txBody>
                    <a:bodyPr/>
                    <a:lstStyle/>
                    <a:p>
                      <a:r>
                        <a:rPr sz="900"/>
                        <a:t>DCS502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Operating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Dr. Deepak Painuli</a:t>
                      </a:r>
                    </a:p>
                  </a:txBody>
                  <a:tcPr/>
                </a:tc>
              </a:tr>
              <a:tr h="128892">
                <a:tc>
                  <a:txBody>
                    <a:bodyPr/>
                    <a:lstStyle/>
                    <a:p>
                      <a:r>
                        <a:rPr sz="900"/>
                        <a:t>DCS503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Data Mining and Warehousing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Dr. Akshay Juneja</a:t>
                      </a:r>
                    </a:p>
                  </a:txBody>
                  <a:tcPr/>
                </a:tc>
              </a:tr>
              <a:tr h="127741">
                <a:tc>
                  <a:txBody>
                    <a:bodyPr/>
                    <a:lstStyle/>
                    <a:p>
                      <a:r>
                        <a:rPr sz="900"/>
                        <a:t>DCS504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Web Development Using Android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YP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Ms. Yadika Prasad</a:t>
                      </a:r>
                    </a:p>
                  </a:txBody>
                  <a:tcPr/>
                </a:tc>
              </a:tr>
              <a:tr h="128892">
                <a:tc>
                  <a:txBody>
                    <a:bodyPr/>
                    <a:lstStyle/>
                    <a:p>
                      <a:r>
                        <a:rPr sz="900"/>
                        <a:t>DCS505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Network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Dr. Anurag Singh</a:t>
                      </a:r>
                    </a:p>
                  </a:txBody>
                  <a:tcPr/>
                </a:tc>
              </a:tr>
              <a:tr h="127741">
                <a:tc>
                  <a:txBody>
                    <a:bodyPr/>
                    <a:lstStyle/>
                    <a:p>
                      <a:r>
                        <a:rPr sz="900"/>
                        <a:t>DCS506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Data Analytics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HB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Ms. Himani</a:t>
                      </a:r>
                    </a:p>
                  </a:txBody>
                  <a:tcPr/>
                </a:tc>
              </a:tr>
              <a:tr h="128892">
                <a:tc>
                  <a:txBody>
                    <a:bodyPr/>
                    <a:lstStyle/>
                    <a:p>
                      <a:r>
                        <a:rPr sz="900"/>
                        <a:t>DCS581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Python Programming 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Mr. Sunil Singh</a:t>
                      </a:r>
                    </a:p>
                  </a:txBody>
                  <a:tcPr/>
                </a:tc>
              </a:tr>
              <a:tr h="128892">
                <a:tc>
                  <a:txBody>
                    <a:bodyPr/>
                    <a:lstStyle/>
                    <a:p>
                      <a:r>
                        <a:rPr sz="900"/>
                        <a:t>DCS582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Operating System 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Ms. Ankita</a:t>
                      </a:r>
                    </a:p>
                  </a:txBody>
                  <a:tcPr/>
                </a:tc>
              </a:tr>
              <a:tr h="127741">
                <a:tc>
                  <a:txBody>
                    <a:bodyPr/>
                    <a:lstStyle/>
                    <a:p>
                      <a:r>
                        <a:rPr sz="900"/>
                        <a:t>DCS583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Web Development Using Android 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YP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Ms. Yadika Prasad</a:t>
                      </a:r>
                    </a:p>
                  </a:txBody>
                  <a:tcPr/>
                </a:tc>
              </a:tr>
              <a:tr h="128892">
                <a:tc>
                  <a:txBody>
                    <a:bodyPr/>
                    <a:lstStyle/>
                    <a:p>
                      <a:r>
                        <a:rPr sz="900"/>
                        <a:t>DCS584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Mini 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Ms. Nidhi Rana</a:t>
                      </a:r>
                    </a:p>
                  </a:txBody>
                  <a:tcPr/>
                </a:tc>
              </a:tr>
              <a:tr h="127741">
                <a:tc>
                  <a:txBody>
                    <a:bodyPr/>
                    <a:lstStyle/>
                    <a:p>
                      <a:r>
                        <a:rPr sz="900"/>
                        <a:t>DSI001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Industrial Training Assessment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Ms. Nidhi Rana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7229" y="446258"/>
            <a:ext cx="1042384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C00000"/>
                </a:solidFill>
                <a:latin typeface="TimesNewRomanPS-BoldMT"/>
              </a:rPr>
              <a:t>COER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0569" y="552675"/>
            <a:ext cx="1355861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C00000"/>
                </a:solidFill>
                <a:latin typeface="TimesNewRomanPS-BoldMT"/>
              </a:rPr>
              <a:t>College of Smart Computing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2250" y="604058"/>
            <a:ext cx="673336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0000"/>
                </a:solidFill>
                <a:latin typeface="TimesNewRomanPS-BoldMT"/>
              </a:rPr>
              <a:t>w.e.f: 15/07/26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90639" y="659093"/>
            <a:ext cx="1675760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C00000"/>
                </a:solidFill>
                <a:latin typeface="TimesNewRomanPS-BoldMT"/>
              </a:rPr>
              <a:t>Computer Science and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2250" y="710476"/>
            <a:ext cx="1134407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0000"/>
                </a:solidFill>
                <a:latin typeface="TimesNewRomanPS-BoldMT"/>
              </a:rPr>
              <a:t>Year: Diploma 3rd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07874" y="765511"/>
            <a:ext cx="2041264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0000"/>
                </a:solidFill>
                <a:latin typeface="TimesNewRomanPS-BoldMT"/>
              </a:rPr>
              <a:t>Academic Session 2026-27 (ODD Semester)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2250" y="816893"/>
            <a:ext cx="574710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0000"/>
                </a:solidFill>
                <a:latin typeface="TimesNewRomanPS-BoldMT"/>
              </a:rPr>
              <a:t>Semester: 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3536" y="871928"/>
            <a:ext cx="689915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0000"/>
                </a:solidFill>
                <a:latin typeface="TimesNewRomanPS-BoldMT"/>
              </a:rPr>
              <a:t>TIME 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94976" y="6343261"/>
            <a:ext cx="753456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0000"/>
                </a:solidFill>
                <a:latin typeface="TimesNewRomanPS-BoldMT"/>
              </a:rPr>
              <a:t>OC Time Table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6777" y="6343261"/>
            <a:ext cx="1146655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0000"/>
                </a:solidFill>
                <a:latin typeface="TimesNewRomanPS-BoldMT"/>
              </a:rPr>
              <a:t>Head of the Department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5514" y="6343261"/>
            <a:ext cx="245957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0000"/>
                </a:solidFill>
                <a:latin typeface="TimesNewRomanPS-BoldMT"/>
              </a:rPr>
              <a:t>Dean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440" y="6343261"/>
            <a:ext cx="953019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0000"/>
                </a:solidFill>
                <a:latin typeface="TimesNewRomanPS-BoldMT"/>
              </a:rPr>
              <a:t>Pro Vice Chancellor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